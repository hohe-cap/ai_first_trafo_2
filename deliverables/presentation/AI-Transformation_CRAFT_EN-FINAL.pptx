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46"/>
    <p:restoredTop sz="94610"/>
  </p:normalViewPr>
  <p:slideViewPr>
    <p:cSldViewPr snapToObjects="1">
      <p:cViewPr varScale="1">
        <p:scale>
          <a:sx n="279" d="100"/>
          <a:sy n="279" d="100"/>
        </p:scale>
        <p:origin x="1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1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" cy="2011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TRANSFORMATION</a:t>
            </a:r>
            <a:endParaRPr lang="en-US" sz="4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CRAFT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iterative framework for AI transformation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Software Development Life Cycle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Hohe | Version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 |  2026  |  AI Transformation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Hohe | AI 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FRAMEWORK – CRAFT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AI transformation?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developments that reinforce each other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3246120"/>
          </a:xfrm>
          <a:prstGeom prst="rect">
            <a:avLst/>
          </a:prstGeom>
          <a:solidFill>
            <a:srgbClr val="141E3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1234440" cy="2286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opportunities are real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task completion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coding assistants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Research 2022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4360" y="2779776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94360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&gt;25%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Google code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AI-generated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40156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Earnings Q3/2024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4360" y="3529584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94360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4360" y="3877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mental energy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repetitive tasks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1513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Research 2022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0" y="1188720"/>
            <a:ext cx="2606040" cy="3246120"/>
          </a:xfrm>
          <a:prstGeom prst="rect">
            <a:avLst/>
          </a:prstGeom>
          <a:solidFill>
            <a:srgbClr val="141E3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3337560" y="1325880"/>
            <a:ext cx="1234440" cy="2286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337560" y="1325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pressure is now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3756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developers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coding tools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265176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Survey 2023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37560" y="2779776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3337560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337560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developers use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plan to use AI tools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37560" y="340156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2024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337560" y="3529584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3337560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337560" y="3877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usage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official approval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7560" y="41513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NANDA 2025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943600" y="1188720"/>
            <a:ext cx="2606040" cy="3246120"/>
          </a:xfrm>
          <a:prstGeom prst="rect">
            <a:avLst/>
          </a:prstGeom>
          <a:solidFill>
            <a:srgbClr val="141E3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6080760" y="1325880"/>
            <a:ext cx="1234440" cy="2286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6080760" y="1325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8076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Inaction is costly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8076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-7,2%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08076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reduction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+25%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without process adaptation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80760" y="265176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Report 2024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080760" y="2779776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6080760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21%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080760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 </a:t>
            </a: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redesigned. NUR 21%!</a:t>
            </a:r>
            <a:endParaRPr lang="en-US" sz="900" dirty="0"/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(stärkster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EBIT-Faktor)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80760" y="340156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2025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080760" y="3529584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6080760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080760" y="3877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Organisationen sind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der</a:t>
            </a:r>
            <a:endParaRPr lang="en-US" sz="900" dirty="0"/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saturation point. Provide active change support!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080760" y="41513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2024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Hohe | AI 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AI transformations fail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investment and impact is the core problem. It's not the technology that fails — it's the implementation.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82880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AI pilots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measurable P&amp;L impact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NANDA 2025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196596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4572000" y="196596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4800600" y="2057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94360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in 2025 have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 their AI initiatives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Global 2025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85800" y="35661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80%+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82880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projects fail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(2× more often than non‑AI IT)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Corporation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0" y="347472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572000" y="347472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800600" y="35661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94360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business transformations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their targets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 &amp; Company 2024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Hohe | AI 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technology problems — transformation problems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Brittle workflows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2468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layered onto existing processes instead of redesigning workflows. Only 21% of organisations have adapted workflows.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/ MIT NANDA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0040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3200400" y="14630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69164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change enablement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74720" y="2468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organisations are at the change saturation point. 45% of employees suffer from change fatigue. Fear: 'Will AI replace me?'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47472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94360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7"/>
          <p:cNvSpPr/>
          <p:nvPr/>
        </p:nvSpPr>
        <p:spPr>
          <a:xfrm>
            <a:off x="5943600" y="146304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69164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approaches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17920" y="2468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rollouts without process understanding. Maturity assessments without action guidance. Change management without a bridge to technology.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1792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Corporation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57200" y="4206240"/>
            <a:ext cx="8229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15968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400" y="42793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shows: workflow redesign has the strongest effect on EBIT impact — stronger than tooling, talent or budget.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Hohe | AI 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guiding principles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380744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103120" y="127101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Stream First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103120" y="15819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start with tools, but with bottlenecks in the value stream. AI interventions are placed where they have the greatest leverage on outcomes.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457200" y="2057400"/>
            <a:ext cx="82296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457200" y="20574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203704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103120" y="209397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Human-Centric Change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103120" y="240487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without a change process produces shelfware. Role development, psychological safety and capability building are equal dimensions.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7"/>
          <p:cNvSpPr/>
          <p:nvPr/>
        </p:nvSpPr>
        <p:spPr>
          <a:xfrm>
            <a:off x="457200" y="2880360"/>
            <a:ext cx="82296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8"/>
          <p:cNvSpPr/>
          <p:nvPr/>
        </p:nvSpPr>
        <p:spPr>
          <a:xfrm>
            <a:off x="457200" y="28803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3026664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103120" y="291693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Iterative rather than sequential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2103120" y="322783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transformations cannot be planned linearly. 4‑week iteration cycles with readiness gates instead of rigid phase models.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2"/>
          <p:cNvSpPr/>
          <p:nvPr/>
        </p:nvSpPr>
        <p:spPr>
          <a:xfrm>
            <a:off x="731520" y="3794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Differentiation: concrete technical implementation + systematic change management across the entire SDLC — orchestrated by the AI Transformation Manager.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Hohe | AI 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FRAMEWORK – CRAFT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 CRAFT dimensions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 parallel, never ‘done’ — and measurable.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job: measurably improve the 5 CRAFT dimensions.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572000" cy="530352"/>
          </a:xfrm>
          <a:prstGeom prst="rect">
            <a:avLst/>
          </a:prstGeom>
          <a:solidFill>
            <a:srgbClr val="141E3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94360" y="128016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12161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&amp; Governance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444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guardrails, policies, EU AI Act, works council involvement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773936"/>
            <a:ext cx="4572000" cy="530352"/>
          </a:xfrm>
          <a:prstGeom prst="rect">
            <a:avLst/>
          </a:prstGeom>
          <a:solidFill>
            <a:srgbClr val="141E30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594360" y="1865376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9436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18013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Readiness — Human &amp; Cultural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0299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development, skill building, psychological safety, champion network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4572000" cy="530352"/>
          </a:xfrm>
          <a:prstGeom prst="rect">
            <a:avLst/>
          </a:prstGeom>
          <a:solidFill>
            <a:srgbClr val="141E3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594360" y="245059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9436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23865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&amp; Usage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2615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day‑to‑day usage, channeling shadow 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944368"/>
            <a:ext cx="4572000" cy="530352"/>
          </a:xfrm>
          <a:prstGeom prst="rect">
            <a:avLst/>
          </a:prstGeom>
          <a:solidFill>
            <a:srgbClr val="141E30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594360" y="3035808"/>
            <a:ext cx="347472" cy="3474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9436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8992" y="29718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&amp; Process Integration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992" y="3200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analysis, bottleneck identification, AI intervention matching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529584"/>
            <a:ext cx="4572000" cy="530352"/>
          </a:xfrm>
          <a:prstGeom prst="rect">
            <a:avLst/>
          </a:prstGeom>
          <a:solidFill>
            <a:srgbClr val="141E30"/>
          </a:solidFill>
          <a:ln w="63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94360" y="3621024"/>
            <a:ext cx="347472" cy="347472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94360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8992" y="35570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enablement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8992" y="3785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provisioning, IDE integration, LLM deployment</a:t>
            </a:r>
            <a:endParaRPr lang="en-US" sz="95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97280"/>
            <a:ext cx="35204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Hohe | AI 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4‑week iteration cycles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dimensions every cycle — with shifting focus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237744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Orientation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check, review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cycle review, goal setting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2331720"/>
            <a:ext cx="228600" cy="228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154680" y="173736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3154680" y="1737360"/>
            <a:ext cx="23774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3337560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2–3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33756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33756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rollout, workshops,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skill building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331720"/>
            <a:ext cx="228600" cy="2286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852160" y="173736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18"/>
          <p:cNvSpPr/>
          <p:nvPr/>
        </p:nvSpPr>
        <p:spPr>
          <a:xfrm>
            <a:off x="5852160" y="1737360"/>
            <a:ext cx="2377440" cy="54864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19"/>
          <p:cNvSpPr/>
          <p:nvPr/>
        </p:nvSpPr>
        <p:spPr>
          <a:xfrm>
            <a:off x="6035040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4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03504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adjustment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03504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Retro, metrics review,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Gate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7200" y="3657600"/>
            <a:ext cx="7909560" cy="8229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3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GATE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31520" y="4041648"/>
            <a:ext cx="73152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5"/>
          <p:cNvSpPr/>
          <p:nvPr/>
        </p:nvSpPr>
        <p:spPr>
          <a:xfrm>
            <a:off x="914400" y="4005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914400" y="4187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&gt; 60%, DORA stable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383280" y="4041648"/>
            <a:ext cx="73152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28"/>
          <p:cNvSpPr/>
          <p:nvPr/>
        </p:nvSpPr>
        <p:spPr>
          <a:xfrm>
            <a:off x="3566160" y="4005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Deepen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3566160" y="4187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&lt; 60%, positive trends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6035040" y="4041648"/>
            <a:ext cx="73152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1"/>
          <p:cNvSpPr/>
          <p:nvPr/>
        </p:nvSpPr>
        <p:spPr>
          <a:xfrm>
            <a:off x="6217920" y="4005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Consolidate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6217920" y="4187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change, resistance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adoption team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on Kotter’s guiding coalition — heterogeneous, cross‑functional, with executive sponsorship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840480" cy="1874520"/>
          </a:xfrm>
          <a:prstGeom prst="rect">
            <a:avLst/>
          </a:prstGeom>
          <a:solidFill>
            <a:srgbClr val="0F1B2D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Transformation Manager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2240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all 5 dimensions. Bridge between technology, people and process. Key role in the framework.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0" y="164592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1"/>
          <p:cNvSpPr/>
          <p:nvPr/>
        </p:nvSpPr>
        <p:spPr>
          <a:xfrm>
            <a:off x="4572000" y="1645920"/>
            <a:ext cx="45720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71907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74920" y="1700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AI Lead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54880" y="19933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50–100%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754880" y="21762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landscape, infrastructure, AI intervention catalogue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601968" y="164592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6"/>
          <p:cNvSpPr/>
          <p:nvPr/>
        </p:nvSpPr>
        <p:spPr>
          <a:xfrm>
            <a:off x="6601968" y="1645920"/>
            <a:ext cx="45720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171907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04888" y="1700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Stream Coach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784848" y="19933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50–80%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784848" y="21762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VSM, DORA interpretation, value stream linkage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0" y="2624328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1"/>
          <p:cNvSpPr/>
          <p:nvPr/>
        </p:nvSpPr>
        <p:spPr>
          <a:xfrm>
            <a:off x="4572000" y="2624328"/>
            <a:ext cx="45720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697480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74920" y="2679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&amp; People Lead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754880" y="29718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50–80%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4754880" y="31546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safety, role development, champion coaching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601968" y="2624328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26"/>
          <p:cNvSpPr/>
          <p:nvPr/>
        </p:nvSpPr>
        <p:spPr>
          <a:xfrm>
            <a:off x="6601968" y="2624328"/>
            <a:ext cx="45720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2697480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04888" y="2679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Liaison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784848" y="29718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6784848" y="31546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protection, works council, IT security, EU AI Act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1"/>
          <p:cNvSpPr/>
          <p:nvPr/>
        </p:nvSpPr>
        <p:spPr>
          <a:xfrm>
            <a:off x="457200" y="361188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2"/>
          <p:cNvSpPr/>
          <p:nvPr/>
        </p:nvSpPr>
        <p:spPr>
          <a:xfrm>
            <a:off x="731520" y="3666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 network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731520" y="39593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people per team as multipliers. At least 20% dedicated capacity. Direct access to the AI Transformation Manager. Kotter’s volunteer army.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 framework: outcomes over output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Three‑layer architecture — automated, minimal overhead, maximum explanatory power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640080" cy="685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1591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outcomes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18470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+ value stream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15910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 · Lead Time · Change Failure Rate · Time to Restore · Cycle Time · Flow Efficiency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199339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from CI/CD, Jira, GitLab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313432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2313432"/>
            <a:ext cx="640080" cy="6858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" y="231343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25880" y="2350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maturity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2606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model (5 × 5)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23500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Compliance · R: Readiness · A: Adoption · F: Flow · T: Technical — each with 5 maturity levels (Exploring to Evolving)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275234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check (quarterly, 15 min) + deep dives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072384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457200" y="3072384"/>
            <a:ext cx="640080" cy="6858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57200" y="307238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25880" y="3108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3364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sponsors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49040" y="3108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change · time‑to‑market · quality change · employee satisfaction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49040" y="35112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aggregated from layers 1+2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922776"/>
            <a:ext cx="8229600" cy="4572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014216"/>
            <a:ext cx="256032" cy="25603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51560" y="39227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active effort: pulse check — 15 minutes, quarterly, anonymous. Everything else is automated.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Hohe | AI 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pilot to scale: 24 weeks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560320" cy="2560320"/>
          </a:xfrm>
          <a:prstGeom prst="rect">
            <a:avLst/>
          </a:prstGeom>
          <a:solidFill>
            <a:srgbClr val="E6F2F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5603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94360" y="1435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1–2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&amp; pilot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4688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basics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pulse check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AI tools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amnesty</a:t>
            </a:r>
            <a:endParaRPr lang="en-US" sz="10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2423160"/>
            <a:ext cx="182880" cy="1828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200400" y="1417320"/>
            <a:ext cx="2560320" cy="2560320"/>
          </a:xfrm>
          <a:prstGeom prst="rect">
            <a:avLst/>
          </a:prstGeom>
          <a:solidFill>
            <a:srgbClr val="E0F7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3200400" y="1417320"/>
            <a:ext cx="256032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3337560" y="1435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3–4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337560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teams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3832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stream deep dive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383280" y="24688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 Mapping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AI interventions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workshops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network active</a:t>
            </a:r>
            <a:endParaRPr lang="en-US" sz="10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423160"/>
            <a:ext cx="182880" cy="1828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943600" y="1417320"/>
            <a:ext cx="2560320" cy="2560320"/>
          </a:xfrm>
          <a:prstGeom prst="rect">
            <a:avLst/>
          </a:prstGeom>
          <a:solidFill>
            <a:srgbClr val="E8ECF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9"/>
          <p:cNvSpPr/>
          <p:nvPr/>
        </p:nvSpPr>
        <p:spPr>
          <a:xfrm>
            <a:off x="5943600" y="1417320"/>
            <a:ext cx="2560320" cy="4572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0"/>
          <p:cNvSpPr/>
          <p:nvPr/>
        </p:nvSpPr>
        <p:spPr>
          <a:xfrm>
            <a:off x="6080760" y="1435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5–6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080760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1264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Scaling &amp; institutionalization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126480" y="24688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transferred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baseline established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model integrated into HR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progress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5"/>
          <p:cNvSpPr/>
          <p:nvPr/>
        </p:nvSpPr>
        <p:spPr>
          <a:xfrm>
            <a:off x="457200" y="4160520"/>
            <a:ext cx="54864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6"/>
          <p:cNvSpPr/>
          <p:nvPr/>
        </p:nvSpPr>
        <p:spPr>
          <a:xfrm>
            <a:off x="73152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expand step by step with readiness gates — never scale directly from a pilot to 20 teams.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Hohe | AI 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service offerings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modular entry offerings — bookable individually, building on each other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260604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594360" y="1673352"/>
            <a:ext cx="233172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94360" y="16733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SPRINT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011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Determine your starting point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  |  8–12 person‑days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560320"/>
            <a:ext cx="233172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Maturity Report + Spider-Chart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0175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quick wins with impact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33375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3337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6‑month transformation plan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6576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Go/No‑Go recommendation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3995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 who wants to know where they stand.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1508760"/>
            <a:ext cx="2606040" cy="2834640"/>
          </a:xfrm>
          <a:prstGeom prst="rect">
            <a:avLst/>
          </a:prstGeom>
          <a:solidFill>
            <a:srgbClr val="0F1B2D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3200400" y="1508760"/>
            <a:ext cx="260604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3337560" y="1673352"/>
            <a:ext cx="2331720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3337560" y="16733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SUPPORT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7560" y="2011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 one team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37560" y="22860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weeks  |  25–40 person‑days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2560320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3337560" y="26974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47872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 map + AI interventions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37560" y="30175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47872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tooling + champions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37560" y="33375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47872" y="3337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policy (context‑specific)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37560" y="36576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47872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baseline + trend report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37560" y="3995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effectiveness, create the basis for scaling.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43600" y="150876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5943600" y="150876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6080760" y="1673352"/>
            <a:ext cx="2331720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6080760" y="16733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SCALE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80760" y="2011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 in the organization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080760" y="22860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months  |  50–80 person‑days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80760" y="2560320"/>
            <a:ext cx="233172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6080760" y="26974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91072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playbook (repeatable)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080760" y="30175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91072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network + governance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080760" y="33375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91072" y="3337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(automated)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080760" y="36576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91072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proof + handover documentation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080760" y="3995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transformation to 2–4 teams.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4434840"/>
            <a:ext cx="8229600" cy="2011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8" name="Text 56"/>
          <p:cNvSpPr/>
          <p:nvPr/>
        </p:nvSpPr>
        <p:spPr>
          <a:xfrm>
            <a:off x="594360" y="4434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add‑ons:  Value stream deep dive  |  Governance &amp; compliance  |  Technical enablement  |  Shadow AI amnesty  |  Executive alignment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ffa499d-8334-4b45-bbba-5ec17299202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1146</Words>
  <Application>Microsoft Macintosh PowerPoint</Application>
  <PresentationFormat>Bildschirmpräsentation (16:9)</PresentationFormat>
  <Paragraphs>268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Transformation Framework – powered by CRAFT</dc:title>
  <dc:subject>PptxGenJS Presentation</dc:subject>
  <dc:creator>AI Transformation Management</dc:creator>
  <cp:lastModifiedBy>Wichert, Daniel</cp:lastModifiedBy>
  <cp:revision>3</cp:revision>
  <dcterms:created xsi:type="dcterms:W3CDTF">2026-03-04T13:32:54Z</dcterms:created>
  <dcterms:modified xsi:type="dcterms:W3CDTF">2026-03-05T08:17:48Z</dcterms:modified>
</cp:coreProperties>
</file>