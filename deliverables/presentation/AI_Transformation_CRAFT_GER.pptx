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Objects="1">
      <p:cViewPr varScale="1">
        <p:scale>
          <a:sx n="199" d="100"/>
          <a:sy n="199" d="100"/>
        </p:scale>
        <p:origin x="68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1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" cy="2011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TRANSFORMATION</a:t>
            </a:r>
            <a:endParaRPr lang="en-US" sz="4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CRAFT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iteratives Framework zur AI Transformation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Software Development Life Cycle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|  2026  |  AI Transformation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FRAMEWORK – CRAFT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Warum AI-Transformation?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Entwicklungen, die sich gegenseitig verstaerken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3246120"/>
          </a:xfrm>
          <a:prstGeom prst="rect">
            <a:avLst/>
          </a:prstGeom>
          <a:solidFill>
            <a:srgbClr val="141E3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1234440" cy="2286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Chancen sind real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schnellere Task-Completion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AI Coding Assistants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Research 2022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4360" y="2779776"/>
            <a:ext cx="2331720" cy="9144"/>
          </a:xfrm>
          <a:prstGeom prst="rect">
            <a:avLst/>
          </a:prstGeom>
          <a:solidFill>
            <a:srgbClr val="2A3A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94360" y="2852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&gt;25%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3127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neuen Google-Codes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AI-generiert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40156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Earnings Q3/2024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4360" y="3529584"/>
            <a:ext cx="2331720" cy="9144"/>
          </a:xfrm>
          <a:prstGeom prst="rect">
            <a:avLst/>
          </a:prstGeom>
          <a:solidFill>
            <a:srgbClr val="2A3A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94360" y="36027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4360" y="38770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sparen mentale Energie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repetitiven Aufgaben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4151376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Research 2022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00400" y="1188720"/>
            <a:ext cx="2606040" cy="3246120"/>
          </a:xfrm>
          <a:prstGeom prst="rect">
            <a:avLst/>
          </a:prstGeom>
          <a:solidFill>
            <a:srgbClr val="141E3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3337560" y="1325880"/>
            <a:ext cx="1234440" cy="2286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3337560" y="13258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LEIDENSDRUCK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3756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Druck ist jetzt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3756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337560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Enterprise-Entwickler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 AI-Coding-Tools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37560" y="265176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Survey 2023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337560" y="2779776"/>
            <a:ext cx="2331720" cy="9144"/>
          </a:xfrm>
          <a:prstGeom prst="rect">
            <a:avLst/>
          </a:prstGeom>
          <a:solidFill>
            <a:srgbClr val="2A3A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3337560" y="2852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337560" y="3127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Entwickler nutzen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 planen AI-Tools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37560" y="340156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2024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337560" y="3529584"/>
            <a:ext cx="2331720" cy="9144"/>
          </a:xfrm>
          <a:prstGeom prst="rect">
            <a:avLst/>
          </a:prstGeom>
          <a:solidFill>
            <a:srgbClr val="2A3A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3337560" y="36027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337560" y="38770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Shadow-AI-Nutzung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offizielle Freigabe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37560" y="4151376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NANDA 2025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943600" y="1188720"/>
            <a:ext cx="2606040" cy="3246120"/>
          </a:xfrm>
          <a:prstGeom prst="rect">
            <a:avLst/>
          </a:prstGeom>
          <a:solidFill>
            <a:srgbClr val="141E3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6080760" y="1325880"/>
            <a:ext cx="1234440" cy="2286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6080760" y="13258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RISIKEN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8076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Nicht-Handeln kostet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08076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-7,2%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080760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Stabilitätsreduktion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+25%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ohne Prozessanpassung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80760" y="265176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Report 2024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080760" y="2779776"/>
            <a:ext cx="2331720" cy="9144"/>
          </a:xfrm>
          <a:prstGeom prst="rect">
            <a:avLst/>
          </a:prstGeom>
          <a:solidFill>
            <a:srgbClr val="2A3A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6080760" y="2852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21%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080760" y="3127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haben </a:t>
            </a: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redesigned. NUR 21%!</a:t>
            </a:r>
            <a:endParaRPr lang="en-US" sz="900" dirty="0"/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(stärkster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EBIT-Faktor)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80760" y="340156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2025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080760" y="3529584"/>
            <a:ext cx="2331720" cy="9144"/>
          </a:xfrm>
          <a:prstGeom prst="rect">
            <a:avLst/>
          </a:prstGeom>
          <a:solidFill>
            <a:srgbClr val="2A3A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6080760" y="36027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080760" y="38770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Organisationen sind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der</a:t>
            </a:r>
            <a:endParaRPr lang="en-US" sz="900" dirty="0"/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Change-Sättigungsgrenze. Begleiten!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080760" y="4151376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2024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FRAMEWORK – CRAFT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Warum AI-Transformationen scheitern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Lücke zwischen Investment und Impact ist das zentrale Problem. Nicht die Technologie scheitert — die Umsetzung scheitert.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3794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82880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Enterprise-AI-Piloten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messbaren P&amp;L-Impact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NANDA 2025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1965960"/>
            <a:ext cx="3794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4572000" y="196596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4800600" y="2057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94360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Unternehmen haben 2025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AI-Initiativen eingestellt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Global 2025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3794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85800" y="35661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80%+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828800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AI-Projekte scheitern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(2× häufiger als Non-AI IT)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 Corporation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0" y="3474720"/>
            <a:ext cx="3794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572000" y="347472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800600" y="35661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5943600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Business-Transformationen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verfehlen ihre Ziele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 &amp; Company 2024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URSACHEN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FRAMEWORK – CRAFT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Keine Technologie-Probleme — Transformations-Probleme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Brüchige Workflows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24688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wird auf bestehende Prozesse aufgesetzt, statt Workflows zu redesignen. Nur 21% der Organisationen haben Workflows angepasst.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/ MIT NANDA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200400" y="14630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3200400" y="146304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69164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472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Fehlende Change-Begleitung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474720" y="24688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der Organisationen an der Change-Sättigungsgrenze. 45% Mitarbeiter von Change Fatigue betroffen. Angst: 'Ersetzt mich die KI?'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47472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5943600" y="146304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7"/>
          <p:cNvSpPr/>
          <p:nvPr/>
        </p:nvSpPr>
        <p:spPr>
          <a:xfrm>
            <a:off x="5943600" y="146304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69164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1792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Fragmentierte Ansätze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217920" y="24688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Tool-Rollouts ohne Prozessverständnis. Maturity Assessments ohne Handlungsanleitung. Change Management ohne Technologie-Brücke.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1792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 Corporation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457200" y="4206240"/>
            <a:ext cx="8229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315968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4400" y="42793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zeigt: Workflow-Redesign hat den stärksten Effekt auf EBIT-Impact — stärker als Tooling, Talent oder Budget.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ANSATZ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FRAMEWORK – CRAFT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Drei Kernprinzipien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380744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103120" y="127101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Stream First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103120" y="15819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beginnen nicht bei Tools, sondern bei Engpässen im Wertschöpfungsprozess. AI-Interventionen werden dort platziert, wo sie den größten Hebel auf Outcomes haben.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457200" y="2057400"/>
            <a:ext cx="82296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457200" y="20574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2203704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103120" y="209397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Human-Centric Change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103120" y="240487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ohne Change-Prozess produziert Shelfware. Rollenentwicklung, psychologische Sicherheit und Fähigkeitsaufbau sind gleichberechtigte Dimensionen.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7"/>
          <p:cNvSpPr/>
          <p:nvPr/>
        </p:nvSpPr>
        <p:spPr>
          <a:xfrm>
            <a:off x="457200" y="2880360"/>
            <a:ext cx="82296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8"/>
          <p:cNvSpPr/>
          <p:nvPr/>
        </p:nvSpPr>
        <p:spPr>
          <a:xfrm>
            <a:off x="457200" y="28803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3026664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103120" y="291693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Iterativ statt sequenziell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2103120" y="322783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Komplexe Transformationen lassen sich nicht linear planen. 4-Wochen-Iterationszyklen mit Readiness Gates statt starrer Phasenmodelle.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2"/>
          <p:cNvSpPr/>
          <p:nvPr/>
        </p:nvSpPr>
        <p:spPr>
          <a:xfrm>
            <a:off x="731520" y="3794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Differenzierung: Konkrete technische Umsetzung + systematisches Change Management entlang des gesamten SDLC — orchestriert durch den AI Transformation Manager.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FRAMEWORK – CRAFT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5 CRAFT-Dimensionen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Gleichzeitig aktiv, nie abgeschlossen — und messbar.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Job: die 5 CRAFT-Dimensionen messbar verbessern.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572000" cy="530352"/>
          </a:xfrm>
          <a:prstGeom prst="rect">
            <a:avLst/>
          </a:prstGeom>
          <a:solidFill>
            <a:srgbClr val="141E30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94360" y="128016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12161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&amp; Governance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14447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Regulatorische Leitplanken, Policies, EU AI Act, Betriebsrats-Einbindung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773936"/>
            <a:ext cx="4572000" cy="530352"/>
          </a:xfrm>
          <a:prstGeom prst="rect">
            <a:avLst/>
          </a:prstGeom>
          <a:solidFill>
            <a:srgbClr val="141E30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594360" y="1865376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94360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18013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Readiness — Human &amp; Cultural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20299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Rollenentwicklung, Skill-Aufbau, psychologische Sicherheit, Champion-Netzwerk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359152"/>
            <a:ext cx="4572000" cy="530352"/>
          </a:xfrm>
          <a:prstGeom prst="rect">
            <a:avLst/>
          </a:prstGeom>
          <a:solidFill>
            <a:srgbClr val="141E30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594360" y="2450592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9436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23865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&amp; Usage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2615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Tatsächliche Nutzung im Arbeitsalltag, Shadow AI Kanalisierung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944368"/>
            <a:ext cx="4572000" cy="530352"/>
          </a:xfrm>
          <a:prstGeom prst="rect">
            <a:avLst/>
          </a:prstGeom>
          <a:solidFill>
            <a:srgbClr val="141E30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594360" y="3035808"/>
            <a:ext cx="347472" cy="347472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9436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78992" y="29718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&amp; Process Integration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8992" y="3200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SDLC-Analyse, Bottleneck-Identifikation, AI-Intervention-Matching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529584"/>
            <a:ext cx="4572000" cy="530352"/>
          </a:xfrm>
          <a:prstGeom prst="rect">
            <a:avLst/>
          </a:prstGeom>
          <a:solidFill>
            <a:srgbClr val="141E30"/>
          </a:solidFill>
          <a:ln w="635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594360" y="3621024"/>
            <a:ext cx="347472" cy="347472"/>
          </a:xfrm>
          <a:prstGeom prst="ellipse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94360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78992" y="35570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Enablement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8992" y="3785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Tool-Bereitstellung, IDE-Integration, LLM-Deployment</a:t>
            </a:r>
            <a:endParaRPr lang="en-US" sz="95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097280"/>
            <a:ext cx="35204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WIR ARBEITEN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FRAMEWORK – CRAFT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4-Wochen-Iterationszyklen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5 Dimensionen in jedem Zyklus — mit wechselndem Schwerpunkt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237744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Orientierung &amp;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Planung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Check, Review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Vorzyklus, Zieldefinition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2331720"/>
            <a:ext cx="228600" cy="2286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154680" y="173736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3"/>
          <p:cNvSpPr/>
          <p:nvPr/>
        </p:nvSpPr>
        <p:spPr>
          <a:xfrm>
            <a:off x="3154680" y="1737360"/>
            <a:ext cx="23774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3337560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2–3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33756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Umsetzung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337560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Tool-Rollout, Workshops,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Skill-Building</a:t>
            </a:r>
            <a:endParaRPr lang="en-US" sz="1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331720"/>
            <a:ext cx="228600" cy="2286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852160" y="173736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hape 18"/>
          <p:cNvSpPr/>
          <p:nvPr/>
        </p:nvSpPr>
        <p:spPr>
          <a:xfrm>
            <a:off x="5852160" y="1737360"/>
            <a:ext cx="2377440" cy="54864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19"/>
          <p:cNvSpPr/>
          <p:nvPr/>
        </p:nvSpPr>
        <p:spPr>
          <a:xfrm>
            <a:off x="6035040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4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03504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&amp;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Anpassung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035040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Retro, Metriken-Review,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Gate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57200" y="3657600"/>
            <a:ext cx="7909560" cy="8229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3"/>
          <p:cNvSpPr/>
          <p:nvPr/>
        </p:nvSpPr>
        <p:spPr>
          <a:xfrm>
            <a:off x="73152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GATE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731520" y="4041648"/>
            <a:ext cx="73152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5"/>
          <p:cNvSpPr/>
          <p:nvPr/>
        </p:nvSpPr>
        <p:spPr>
          <a:xfrm>
            <a:off x="914400" y="4005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Erweitern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914400" y="4187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&gt; 60%, DORA stabil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3383280" y="4041648"/>
            <a:ext cx="73152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28"/>
          <p:cNvSpPr/>
          <p:nvPr/>
        </p:nvSpPr>
        <p:spPr>
          <a:xfrm>
            <a:off x="3566160" y="4005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Vertiefen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3566160" y="4187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&lt; 60%, positive Trends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6035040" y="4041648"/>
            <a:ext cx="73152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31"/>
          <p:cNvSpPr/>
          <p:nvPr/>
        </p:nvSpPr>
        <p:spPr>
          <a:xfrm>
            <a:off x="6217920" y="4005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Konsolidieren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6217920" y="4187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Governance-Änderung, Widerstand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FRAMEWORK – CRAFT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AI Adoption Team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Angelehnt an Kotters Guiding Coalition — heterogen, cross-funktional, mit Sponsorship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3840480" cy="1874520"/>
          </a:xfrm>
          <a:prstGeom prst="rect">
            <a:avLst/>
          </a:prstGeom>
          <a:solidFill>
            <a:srgbClr val="0F1B2D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Transformation Manager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2240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Orchestriert alle 5 Dimensionen. Brückenbauer zwischen Technik, Mensch und Prozess. Schlüsselrolle des Frameworks.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0" y="1645920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1"/>
          <p:cNvSpPr/>
          <p:nvPr/>
        </p:nvSpPr>
        <p:spPr>
          <a:xfrm>
            <a:off x="4572000" y="1645920"/>
            <a:ext cx="45720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71907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74920" y="1700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AI Lead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54880" y="19933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50–100%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754880" y="21762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Tool-Landschaft, Infrastruktur, AI Intervention Katalog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601968" y="1645920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6"/>
          <p:cNvSpPr/>
          <p:nvPr/>
        </p:nvSpPr>
        <p:spPr>
          <a:xfrm>
            <a:off x="6601968" y="1645920"/>
            <a:ext cx="45720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171907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104888" y="1700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Stream Coach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784848" y="19933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50–80%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6784848" y="21762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VSM, DORA-Interpretation, Wertschöpfungs-Verbindung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0" y="2624328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1"/>
          <p:cNvSpPr/>
          <p:nvPr/>
        </p:nvSpPr>
        <p:spPr>
          <a:xfrm>
            <a:off x="4572000" y="2624328"/>
            <a:ext cx="45720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697480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074920" y="2679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&amp; People Lead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754880" y="29718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50–80%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4754880" y="31546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Safety, Rollenentwicklung, Champion-Coaching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601968" y="2624328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Shape 26"/>
          <p:cNvSpPr/>
          <p:nvPr/>
        </p:nvSpPr>
        <p:spPr>
          <a:xfrm>
            <a:off x="6601968" y="2624328"/>
            <a:ext cx="45720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848" y="2697480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104888" y="2679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Liaison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784848" y="29718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6784848" y="31546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Datenschutz, Betriebsrat, IT-Security, EU AI Act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457200" y="36118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31"/>
          <p:cNvSpPr/>
          <p:nvPr/>
        </p:nvSpPr>
        <p:spPr>
          <a:xfrm>
            <a:off x="457200" y="361188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2"/>
          <p:cNvSpPr/>
          <p:nvPr/>
        </p:nvSpPr>
        <p:spPr>
          <a:xfrm>
            <a:off x="731520" y="3666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Champion-Netzwerk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731520" y="39593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Personen pro Team als Multiplikatoren. Mind. 20% dedizierte Kapazität. Direkter Zugang zum AI Transformation Manager. Kotters Volunteer Army.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MESSBARKEIT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FRAMEWORK – CRAFT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KPI-Framework: Outcome statt Output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Drei-Schichten-Architektur — automatisiert, minimal Overhead, maximale Aussagekraft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640080" cy="685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25880" y="1591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Outcomes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18470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+ Value Stream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15910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Frequency · Lead Time · Change Failure Rate · Time to Restore · Cycle Time · Flow Efficiency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199339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aus CI/CD, Jira, GitLab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313432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2313432"/>
            <a:ext cx="640080" cy="6858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57200" y="2313432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25880" y="2350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Maturity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2606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CRAFT-Modell (5 x 5)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49040" y="23500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Compliance · R: Readiness · A: Adoption · F: Flow · T: Technical — jeweils 5 Reifestufen (Exploring bis Evolving)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275234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Check (quartalsweise, 15 Min) + Deep-Dives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072384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457200" y="3072384"/>
            <a:ext cx="640080" cy="6858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57200" y="307238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325880" y="3108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3364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Sponsoren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49040" y="31089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Velocity-Veränderung · Time-to-Market · Qualitätsveränderung · Mitarbeiterzufriedenheit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49040" y="35112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aggregiert aus Schicht 1+2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922776"/>
            <a:ext cx="8229600" cy="4572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014216"/>
            <a:ext cx="256032" cy="25603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51560" y="392277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Einziger aktiver Aufwand: Pulse Check — 15 Minuten, quartalsweise, anonym. Alles andere ist automatisiert.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FRAMEWORK – CRAFT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Vom Pilot zur Skalierung: 24 Wochen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560320" cy="2560320"/>
          </a:xfrm>
          <a:prstGeom prst="rect">
            <a:avLst/>
          </a:prstGeom>
          <a:solidFill>
            <a:srgbClr val="E6F2F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56032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94360" y="1435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ZYKLUS 1–2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Team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&amp; Pilot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4688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Governance-Grundlagen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Pulse Check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mit AI-Tools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Amnestie</a:t>
            </a:r>
            <a:endParaRPr lang="en-US" sz="10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2423160"/>
            <a:ext cx="182880" cy="1828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200400" y="1417320"/>
            <a:ext cx="2560320" cy="2560320"/>
          </a:xfrm>
          <a:prstGeom prst="rect">
            <a:avLst/>
          </a:prstGeom>
          <a:solidFill>
            <a:srgbClr val="E0F7F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3"/>
          <p:cNvSpPr/>
          <p:nvPr/>
        </p:nvSpPr>
        <p:spPr>
          <a:xfrm>
            <a:off x="3200400" y="1417320"/>
            <a:ext cx="256032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3337560" y="1435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ZYKLUS 3–4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337560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Teams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38328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Stream Deep Dive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383280" y="24688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 Mapping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AI-Interventionen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Change-Workshops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Champion-Netzwerk aktiv</a:t>
            </a:r>
            <a:endParaRPr lang="en-US" sz="10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423160"/>
            <a:ext cx="182880" cy="18288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943600" y="1417320"/>
            <a:ext cx="2560320" cy="2560320"/>
          </a:xfrm>
          <a:prstGeom prst="rect">
            <a:avLst/>
          </a:prstGeom>
          <a:solidFill>
            <a:srgbClr val="E8ECF0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19"/>
          <p:cNvSpPr/>
          <p:nvPr/>
        </p:nvSpPr>
        <p:spPr>
          <a:xfrm>
            <a:off x="5943600" y="1417320"/>
            <a:ext cx="2560320" cy="4572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0"/>
          <p:cNvSpPr/>
          <p:nvPr/>
        </p:nvSpPr>
        <p:spPr>
          <a:xfrm>
            <a:off x="6080760" y="1435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ZYKLUS 5–6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080760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12648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Skalierung &amp; Institutionalisierung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126480" y="24688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transferiert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KPI-Baseline etabliert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Rollenmodell in HR integriert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Messbarer Fortschritt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5"/>
          <p:cNvSpPr/>
          <p:nvPr/>
        </p:nvSpPr>
        <p:spPr>
          <a:xfrm>
            <a:off x="457200" y="4160520"/>
            <a:ext cx="54864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6"/>
          <p:cNvSpPr/>
          <p:nvPr/>
        </p:nvSpPr>
        <p:spPr>
          <a:xfrm>
            <a:off x="73152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Kritisch: Schrittweise Ausweitung mit Readiness Gates — nie direkt vom Pilot auf 20 Teams skalieren.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ANGEBOT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FRAMEWORK – CRAFT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Unsere Service-Angebote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modulare Einstiegsangebote — einzeln buchbar, aufeinander aufbauend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260604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260604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594360" y="1673352"/>
            <a:ext cx="2331720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94360" y="16733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SPRINT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0116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Standort bestimmen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Wochen  |  8-12 PT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560320"/>
            <a:ext cx="233172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94360" y="269748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Maturity Report + Spider-Chart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0175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Quick Wins mit Impact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33375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3337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6-Monats-Transformationsplan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36576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Empfehlung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3995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alle, die wissen wollen wo sie stehen.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1508760"/>
            <a:ext cx="2606040" cy="2834640"/>
          </a:xfrm>
          <a:prstGeom prst="rect">
            <a:avLst/>
          </a:prstGeom>
          <a:solidFill>
            <a:srgbClr val="0F1B2D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3200400" y="1508760"/>
            <a:ext cx="260604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3337560" y="1673352"/>
            <a:ext cx="2331720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3337560" y="16733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BEGLEITUNG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37560" y="20116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 Team transformieren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37560" y="22860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Wochen  |  25-40 PT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2560320"/>
            <a:ext cx="2331720" cy="9144"/>
          </a:xfrm>
          <a:prstGeom prst="rect">
            <a:avLst/>
          </a:prstGeom>
          <a:solidFill>
            <a:srgbClr val="2A3A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3337560" y="269748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47872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 Map + AI-Interventions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37560" y="30175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47872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Konfiguriertes Tooling + Champions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37560" y="33375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47872" y="3337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Policy (kontextspezifisch)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37560" y="36576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547872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Baseline + Trend-Report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37560" y="3995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Wirksamkeit nachweisen, Skalierungsbasis schaffen.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943600" y="1508760"/>
            <a:ext cx="260604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2" name="Shape 40"/>
          <p:cNvSpPr/>
          <p:nvPr/>
        </p:nvSpPr>
        <p:spPr>
          <a:xfrm>
            <a:off x="5943600" y="150876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6080760" y="1673352"/>
            <a:ext cx="2331720" cy="237744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6080760" y="16733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SCALE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80760" y="20116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Organisation verankern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080760" y="22860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Monate  |  50-80 PT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80760" y="2560320"/>
            <a:ext cx="233172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/>
          <p:nvPr/>
        </p:nvSpPr>
        <p:spPr>
          <a:xfrm>
            <a:off x="6080760" y="269748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91072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Skalierungs-Playbook (wiederholbar)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080760" y="30175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91072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Champion-Netzwerk + Governance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080760" y="33375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91072" y="3337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KPI-Dashboard (automatisiert)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080760" y="36576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91072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ROI-Nachweis + Übergabe-Doku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080760" y="3995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auf 2-4 Teams skalieren.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4434840"/>
            <a:ext cx="8229600" cy="20116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8" name="Text 56"/>
          <p:cNvSpPr/>
          <p:nvPr/>
        </p:nvSpPr>
        <p:spPr>
          <a:xfrm>
            <a:off x="594360" y="44348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Ergänzende Add-ons:  Value Stream Deep Dive  |  Governance &amp; Compliance  |  Technical Enablement  |  Shadow AI Amnestie  |  Executive Alignment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ffa499d-8334-4b45-bbba-5ec17299202b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1119</Words>
  <Application>Microsoft Office PowerPoint</Application>
  <PresentationFormat>Bildschirmpräsentation (16:9)</PresentationFormat>
  <Paragraphs>268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Transformation Framework – powered by CRAFT</dc:title>
  <dc:subject>PptxGenJS Presentation</dc:subject>
  <dc:creator>AI Transformation Management</dc:creator>
  <cp:lastModifiedBy>Hohe, Jan</cp:lastModifiedBy>
  <cp:revision>2</cp:revision>
  <dcterms:created xsi:type="dcterms:W3CDTF">2026-03-04T13:32:54Z</dcterms:created>
  <dcterms:modified xsi:type="dcterms:W3CDTF">2026-03-04T14:36:48Z</dcterms:modified>
</cp:coreProperties>
</file>